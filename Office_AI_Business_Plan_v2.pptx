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5400">
                <a:solidFill>
                  <a:srgbClr val="FFFFFF"/>
                </a:solidFill>
                <a:latin typeface="Malgun Gothic"/>
              </a:defRPr>
            </a:pPr>
            <a:r>
              <a:t>Office AI</a:t>
            </a:r>
          </a:p>
          <a:p>
            <a:pPr>
              <a:defRPr b="1" sz="5400">
                <a:solidFill>
                  <a:srgbClr val="FFFFFF"/>
                </a:solidFill>
                <a:latin typeface="Malgun Gothic"/>
              </a:defRPr>
            </a:pPr>
            <a:r>
              <a:t>Business Plan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E2E8F0"/>
                </a:solidFill>
                <a:latin typeface="Malgun Gothic"/>
              </a:defRPr>
            </a:pPr>
            <a:r>
              <a:t>KS 심사위원/정부지원 행정 업무 자동화를 위한</a:t>
            </a:r>
          </a:p>
          <a:p>
            <a:pPr>
              <a:defRPr sz="2000">
                <a:solidFill>
                  <a:srgbClr val="E2E8F0"/>
                </a:solidFill>
                <a:latin typeface="Malgun Gothic"/>
              </a:defRPr>
            </a:pPr>
            <a:r>
              <a:t>중소기업 전용 AI 에이전트 서비스</a:t>
            </a:r>
          </a:p>
          <a:p>
            <a:pPr>
              <a:defRPr sz="2000">
                <a:solidFill>
                  <a:srgbClr val="E2E8F0"/>
                </a:solidFill>
                <a:latin typeface="Malgun Gothic"/>
              </a:defRPr>
            </a:pPr>
          </a:p>
          <a:p>
            <a:pPr>
              <a:defRPr sz="2000">
                <a:solidFill>
                  <a:srgbClr val="E2E8F0"/>
                </a:solidFill>
                <a:latin typeface="Malgun Gothic"/>
              </a:defRPr>
            </a:pPr>
            <a:r>
              <a:t>발표자: 노진광 대표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457200"/>
            <a:ext cx="3657600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320"/>
          </a:xfrm>
        </p:spPr>
        <p:txBody>
          <a:bodyPr/>
          <a:lstStyle/>
          <a:p>
            <a:pPr>
              <a:defRPr b="1" sz="3600">
                <a:solidFill>
                  <a:srgbClr val="FFFFFF"/>
                </a:solidFill>
                <a:latin typeface="Malgun Gothic"/>
              </a:defRPr>
            </a:pPr>
            <a:r>
              <a:t>1. 문제 인식: 중소기업의 인력난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b="1" sz="2400">
                <a:solidFill>
                  <a:srgbClr val="3B82F6"/>
                </a:solidFill>
                <a:latin typeface="Malgun Gothic"/>
              </a:defRPr>
            </a:pPr>
            <a:r>
              <a:t>만성적인 전문 인력 부족 현상</a:t>
            </a:r>
          </a:p>
          <a:p>
            <a:pPr>
              <a:spcAft>
                <a:spcPts val="1200"/>
              </a:spcAft>
              <a:defRPr sz="2000">
                <a:solidFill>
                  <a:srgbClr val="E2E8F0"/>
                </a:solidFill>
                <a:latin typeface="Malgun Gothic"/>
              </a:defRPr>
            </a:pPr>
            <a:r>
              <a:t>• 국내 중소기업 80% 이상이 인력난 호소</a:t>
            </a:r>
          </a:p>
          <a:p>
            <a:pPr>
              <a:spcAft>
                <a:spcPts val="1200"/>
              </a:spcAft>
              <a:defRPr sz="2000">
                <a:solidFill>
                  <a:srgbClr val="E2E8F0"/>
                </a:solidFill>
                <a:latin typeface="Malgun Gothic"/>
              </a:defRPr>
            </a:pPr>
            <a:r>
              <a:t>• 기획/품질관리/인증 등 특수 직무 수행 인력 채용 불가</a:t>
            </a:r>
          </a:p>
          <a:p>
            <a:pPr>
              <a:spcAft>
                <a:spcPts val="1200"/>
              </a:spcAft>
              <a:defRPr sz="2000">
                <a:solidFill>
                  <a:srgbClr val="E2E8F0"/>
                </a:solidFill>
                <a:latin typeface="Malgun Gothic"/>
              </a:defRPr>
            </a:pPr>
          </a:p>
          <a:p>
            <a:pPr>
              <a:spcAft>
                <a:spcPts val="1200"/>
              </a:spcAft>
              <a:defRPr b="1" sz="2400">
                <a:solidFill>
                  <a:srgbClr val="3B82F6"/>
                </a:solidFill>
                <a:latin typeface="Malgun Gothic"/>
              </a:defRPr>
            </a:pPr>
            <a:r>
              <a:t>핵심 Pain Point</a:t>
            </a:r>
          </a:p>
          <a:p>
            <a:pPr>
              <a:spcAft>
                <a:spcPts val="1200"/>
              </a:spcAft>
              <a:defRPr sz="2000">
                <a:solidFill>
                  <a:srgbClr val="E2E8F0"/>
                </a:solidFill>
                <a:latin typeface="Malgun Gothic"/>
              </a:defRPr>
            </a:pPr>
            <a:r>
              <a:t>• 복잡한 서류 작성 부담으로 정부지원사업(R&amp;D 등) 포기</a:t>
            </a:r>
          </a:p>
          <a:p>
            <a:pPr>
              <a:spcAft>
                <a:spcPts val="1200"/>
              </a:spcAft>
              <a:defRPr sz="2000">
                <a:solidFill>
                  <a:srgbClr val="E2E8F0"/>
                </a:solidFill>
                <a:latin typeface="Malgun Gothic"/>
              </a:defRPr>
            </a:pPr>
            <a:r>
              <a:t>• 잦은 담당자 퇴사로 인한 KS 심사 준비 단절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3716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320"/>
          </a:xfrm>
        </p:spPr>
        <p:txBody>
          <a:bodyPr/>
          <a:lstStyle/>
          <a:p>
            <a:pPr>
              <a:defRPr b="1" sz="3600">
                <a:solidFill>
                  <a:srgbClr val="FFFFFF"/>
                </a:solidFill>
                <a:latin typeface="Malgun Gothic"/>
              </a:defRPr>
            </a:pPr>
            <a:r>
              <a:t>2. 해결 방안: Office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b="1" sz="2400">
                <a:solidFill>
                  <a:srgbClr val="3B82F6"/>
                </a:solidFill>
                <a:latin typeface="Malgun Gothic"/>
              </a:defRPr>
            </a:pPr>
            <a:r>
              <a:t>KS 심사위원이 직접 설계한 AI 비서</a:t>
            </a:r>
          </a:p>
          <a:p>
            <a:pPr>
              <a:spcAft>
                <a:spcPts val="1200"/>
              </a:spcAft>
              <a:defRPr sz="2000">
                <a:solidFill>
                  <a:srgbClr val="E2E8F0"/>
                </a:solidFill>
                <a:latin typeface="Malgun Gothic"/>
              </a:defRPr>
            </a:pPr>
            <a:r>
              <a:t>• 핵심 기능: 기업 데이터 입력 시 사업계획서/심사 서류 자동 생성</a:t>
            </a:r>
          </a:p>
          <a:p>
            <a:pPr>
              <a:spcAft>
                <a:spcPts val="1200"/>
              </a:spcAft>
              <a:defRPr sz="2000">
                <a:solidFill>
                  <a:srgbClr val="E2E8F0"/>
                </a:solidFill>
                <a:latin typeface="Malgun Gothic"/>
              </a:defRPr>
            </a:pPr>
            <a:r>
              <a:t>• 특화 기술: Domain-Specific RAG</a:t>
            </a:r>
          </a:p>
          <a:p>
            <a:pPr lvl="1">
              <a:spcAft>
                <a:spcPts val="1200"/>
              </a:spcAft>
              <a:defRPr sz="2000">
                <a:solidFill>
                  <a:srgbClr val="E2E8F0"/>
                </a:solidFill>
                <a:latin typeface="Malgun Gothic"/>
              </a:defRPr>
            </a:pPr>
            <a:r>
              <a:t>  - KS 인증 심사 기준서 및 합격 데이터셋 학습</a:t>
            </a:r>
          </a:p>
          <a:p>
            <a:pPr lvl="1">
              <a:spcAft>
                <a:spcPts val="1200"/>
              </a:spcAft>
              <a:defRPr sz="2000">
                <a:solidFill>
                  <a:srgbClr val="E2E8F0"/>
                </a:solidFill>
                <a:latin typeface="Malgun Gothic"/>
              </a:defRPr>
            </a:pPr>
            <a:r>
              <a:t>  - 심사위원 페르소나를 통한 'Self-Check' 기능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3716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320"/>
          </a:xfrm>
        </p:spPr>
        <p:txBody>
          <a:bodyPr/>
          <a:lstStyle/>
          <a:p>
            <a:pPr>
              <a:defRPr b="1" sz="3600">
                <a:solidFill>
                  <a:srgbClr val="FFFFFF"/>
                </a:solidFill>
                <a:latin typeface="Malgun Gothic"/>
              </a:defRPr>
            </a:pPr>
            <a:r>
              <a:t>2. 해결 방안: 경쟁력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b="1" sz="2400">
                <a:solidFill>
                  <a:srgbClr val="3B82F6"/>
                </a:solidFill>
                <a:latin typeface="Malgun Gothic"/>
              </a:defRPr>
            </a:pPr>
            <a:r>
              <a:t>압도적인 도메인 지식 (Unfair Advantage)</a:t>
            </a:r>
          </a:p>
          <a:p>
            <a:pPr>
              <a:spcAft>
                <a:spcPts val="1200"/>
              </a:spcAft>
              <a:defRPr sz="2000">
                <a:solidFill>
                  <a:srgbClr val="E2E8F0"/>
                </a:solidFill>
                <a:latin typeface="Malgun Gothic"/>
              </a:defRPr>
            </a:pPr>
            <a:r>
              <a:t>• KSA 심사팀 출신 + 에너지 기업 CEO의 현장 경험 결합</a:t>
            </a:r>
          </a:p>
          <a:p>
            <a:pPr>
              <a:spcAft>
                <a:spcPts val="1200"/>
              </a:spcAft>
              <a:defRPr sz="2000">
                <a:solidFill>
                  <a:srgbClr val="E2E8F0"/>
                </a:solidFill>
                <a:latin typeface="Malgun Gothic"/>
              </a:defRPr>
            </a:pPr>
            <a:r>
              <a:t>• 단순 기술 기업은 모방할 수 없는 '심사 노하우' 보유</a:t>
            </a:r>
          </a:p>
          <a:p>
            <a:pPr>
              <a:spcAft>
                <a:spcPts val="1200"/>
              </a:spcAft>
              <a:defRPr sz="2000">
                <a:solidFill>
                  <a:srgbClr val="E2E8F0"/>
                </a:solidFill>
                <a:latin typeface="Malgun Gothic"/>
              </a:defRPr>
            </a:pPr>
          </a:p>
          <a:p>
            <a:pPr>
              <a:spcAft>
                <a:spcPts val="1200"/>
              </a:spcAft>
              <a:defRPr b="1" sz="2400">
                <a:solidFill>
                  <a:srgbClr val="3B82F6"/>
                </a:solidFill>
                <a:latin typeface="Malgun Gothic"/>
              </a:defRPr>
            </a:pPr>
            <a:r>
              <a:t>사용자 편의성</a:t>
            </a:r>
          </a:p>
          <a:p>
            <a:pPr>
              <a:spcAft>
                <a:spcPts val="1200"/>
              </a:spcAft>
              <a:defRPr sz="2000">
                <a:solidFill>
                  <a:srgbClr val="E2E8F0"/>
                </a:solidFill>
                <a:latin typeface="Malgun Gothic"/>
              </a:defRPr>
            </a:pPr>
            <a:r>
              <a:t>• "자금 필요해" 같은 자연어 명령어로 워크플로우 실행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3716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320"/>
          </a:xfrm>
        </p:spPr>
        <p:txBody>
          <a:bodyPr/>
          <a:lstStyle/>
          <a:p>
            <a:pPr>
              <a:defRPr b="1" sz="3600">
                <a:solidFill>
                  <a:srgbClr val="FFFFFF"/>
                </a:solidFill>
                <a:latin typeface="Malgun Gothic"/>
              </a:defRPr>
            </a:pPr>
            <a:r>
              <a:t>3. 비즈니스 모델 &amp; 시장 진입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b="1" sz="2400">
                <a:solidFill>
                  <a:srgbClr val="3B82F6"/>
                </a:solidFill>
                <a:latin typeface="Malgun Gothic"/>
              </a:defRPr>
            </a:pPr>
            <a:r>
              <a:t>초기 타겟 시장 (Beachhead Market)</a:t>
            </a:r>
          </a:p>
          <a:p>
            <a:pPr>
              <a:spcAft>
                <a:spcPts val="1200"/>
              </a:spcAft>
              <a:defRPr sz="2000">
                <a:solidFill>
                  <a:srgbClr val="E2E8F0"/>
                </a:solidFill>
                <a:latin typeface="Malgun Gothic"/>
              </a:defRPr>
            </a:pPr>
            <a:r>
              <a:t>• 태양광 시공/제조 업체 (서류 작업 과다 업종)</a:t>
            </a:r>
          </a:p>
          <a:p>
            <a:pPr>
              <a:spcAft>
                <a:spcPts val="1200"/>
              </a:spcAft>
              <a:defRPr sz="2000">
                <a:solidFill>
                  <a:srgbClr val="E2E8F0"/>
                </a:solidFill>
                <a:latin typeface="Malgun Gothic"/>
              </a:defRPr>
            </a:pPr>
            <a:r>
              <a:t>• CEO의 4억 규모 계약 관리 네트워크 직접 활용</a:t>
            </a:r>
          </a:p>
          <a:p>
            <a:pPr>
              <a:spcAft>
                <a:spcPts val="1200"/>
              </a:spcAft>
              <a:defRPr sz="2000">
                <a:solidFill>
                  <a:srgbClr val="E2E8F0"/>
                </a:solidFill>
                <a:latin typeface="Malgun Gothic"/>
              </a:defRPr>
            </a:pPr>
          </a:p>
          <a:p>
            <a:pPr>
              <a:spcAft>
                <a:spcPts val="1200"/>
              </a:spcAft>
              <a:defRPr b="1" sz="2400">
                <a:solidFill>
                  <a:srgbClr val="3B82F6"/>
                </a:solidFill>
                <a:latin typeface="Malgun Gothic"/>
              </a:defRPr>
            </a:pPr>
            <a:r>
              <a:t>수익 모델 (Revenue Stream)</a:t>
            </a:r>
          </a:p>
          <a:p>
            <a:pPr>
              <a:spcAft>
                <a:spcPts val="1200"/>
              </a:spcAft>
              <a:defRPr sz="2000">
                <a:solidFill>
                  <a:srgbClr val="E2E8F0"/>
                </a:solidFill>
                <a:latin typeface="Malgun Gothic"/>
              </a:defRPr>
            </a:pPr>
            <a:r>
              <a:t>• 월 구독료: 20만 원 (AI 행정 비서)</a:t>
            </a:r>
          </a:p>
          <a:p>
            <a:pPr>
              <a:spcAft>
                <a:spcPts val="1200"/>
              </a:spcAft>
              <a:defRPr sz="2000">
                <a:solidFill>
                  <a:srgbClr val="E2E8F0"/>
                </a:solidFill>
                <a:latin typeface="Malgun Gothic"/>
              </a:defRPr>
            </a:pPr>
            <a:r>
              <a:t>• 성공 보수: 정부 과제 선정 시 수수료 3~5%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3716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320"/>
          </a:xfrm>
        </p:spPr>
        <p:txBody>
          <a:bodyPr/>
          <a:lstStyle/>
          <a:p>
            <a:pPr>
              <a:defRPr b="1" sz="3600">
                <a:solidFill>
                  <a:srgbClr val="FFFFFF"/>
                </a:solidFill>
                <a:latin typeface="Malgun Gothic"/>
              </a:defRPr>
            </a:pPr>
            <a:r>
              <a:t>4. 팀 역량 (Team)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b="1" sz="2400">
                <a:solidFill>
                  <a:srgbClr val="3B82F6"/>
                </a:solidFill>
                <a:latin typeface="Malgun Gothic"/>
              </a:defRPr>
            </a:pPr>
            <a:r>
              <a:t>대표자: 노진광 (Biz &amp; Tech 융합 Leader)</a:t>
            </a:r>
          </a:p>
          <a:p>
            <a:pPr>
              <a:spcAft>
                <a:spcPts val="1200"/>
              </a:spcAft>
              <a:defRPr sz="2000">
                <a:solidFill>
                  <a:srgbClr val="E2E8F0"/>
                </a:solidFill>
                <a:latin typeface="Malgun Gothic"/>
              </a:defRPr>
            </a:pPr>
            <a:r>
              <a:t>• [Energy] 정도에코에너지/제이케이네트웍스 대표</a:t>
            </a:r>
          </a:p>
          <a:p>
            <a:pPr lvl="1">
              <a:spcAft>
                <a:spcPts val="1200"/>
              </a:spcAft>
              <a:defRPr sz="2000">
                <a:solidFill>
                  <a:srgbClr val="E2E8F0"/>
                </a:solidFill>
                <a:latin typeface="Malgun Gothic"/>
              </a:defRPr>
            </a:pPr>
            <a:r>
              <a:t>  - 대규모 발전소 시공 및 운영 계약 총괄</a:t>
            </a:r>
          </a:p>
          <a:p>
            <a:pPr>
              <a:spcAft>
                <a:spcPts val="1200"/>
              </a:spcAft>
              <a:defRPr sz="2000">
                <a:solidFill>
                  <a:srgbClr val="E2E8F0"/>
                </a:solidFill>
                <a:latin typeface="Malgun Gothic"/>
              </a:defRPr>
            </a:pPr>
            <a:r>
              <a:t>• [Certification] KSA 인증 심사팀 출신</a:t>
            </a:r>
          </a:p>
          <a:p>
            <a:pPr lvl="1">
              <a:spcAft>
                <a:spcPts val="1200"/>
              </a:spcAft>
              <a:defRPr sz="2000">
                <a:solidFill>
                  <a:srgbClr val="E2E8F0"/>
                </a:solidFill>
                <a:latin typeface="Malgun Gothic"/>
              </a:defRPr>
            </a:pPr>
            <a:r>
              <a:t>  - KS 인증/ISO 심사 프로세스 전문성</a:t>
            </a:r>
          </a:p>
          <a:p>
            <a:pPr>
              <a:spcAft>
                <a:spcPts val="1200"/>
              </a:spcAft>
              <a:defRPr sz="2000">
                <a:solidFill>
                  <a:srgbClr val="E2E8F0"/>
                </a:solidFill>
                <a:latin typeface="Malgun Gothic"/>
              </a:defRPr>
            </a:pPr>
            <a:r>
              <a:t>• [Digital] AI Server 구축 및 자동화 개발</a:t>
            </a:r>
          </a:p>
          <a:p>
            <a:pPr lvl="1">
              <a:spcAft>
                <a:spcPts val="1200"/>
              </a:spcAft>
              <a:defRPr sz="2000">
                <a:solidFill>
                  <a:srgbClr val="E2E8F0"/>
                </a:solidFill>
                <a:latin typeface="Malgun Gothic"/>
              </a:defRPr>
            </a:pPr>
            <a:r>
              <a:t>  - NotebookLM, Claude 에이전트 서비스 자체 구현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3716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